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313" r:id="rId2"/>
    <p:sldId id="262" r:id="rId3"/>
    <p:sldId id="304" r:id="rId4"/>
    <p:sldId id="314" r:id="rId5"/>
    <p:sldId id="305" r:id="rId6"/>
    <p:sldId id="315" r:id="rId7"/>
    <p:sldId id="306" r:id="rId8"/>
    <p:sldId id="268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3F00"/>
    <a:srgbClr val="FF5050"/>
    <a:srgbClr val="CCCCFF"/>
    <a:srgbClr val="C2F1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94BE17-1858-4E21-8C76-0E30496A6E4D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5E589C-DFB6-4071-A9F9-9C9EC7A3D9C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259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BEA236-0E36-1CD8-C0ED-9B91F4BB6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34E6A1-0EB9-EB5E-D972-A17254DF86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F2A4C0-FCD0-928E-81A2-59626DB6D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6BDC6-1C7D-C8A9-DF35-7EDB2C7AF8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E589C-DFB6-4071-A9F9-9C9EC7A3D9C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14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E589C-DFB6-4071-A9F9-9C9EC7A3D9C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2242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5E589C-DFB6-4071-A9F9-9C9EC7A3D9C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025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9E11-4D7A-4193-DAE1-46968A038E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667A04-F636-E42A-D298-E0B559B94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4B806-3E4A-B909-6F33-D779A0EB5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00D64-DE53-4A02-8C68-ABEDA0D4226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5A8F71-B1FB-2C64-C967-85619181D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9FF10-9EA5-8B82-B8D3-C9446F980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54DCB-C3F6-430B-AD65-3232CE555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817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0326-17B7-68BB-88CE-F1E9FB0B7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88C08-DE42-D2BF-885F-9466E68AF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7CABE-2984-7D7A-61C1-D06384824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00D64-DE53-4A02-8C68-ABEDA0D4226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DA6555-7644-6E43-38DC-4CD560142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50C9AA-5A65-44E5-37C2-AAC72C886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54DCB-C3F6-430B-AD65-3232CE555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00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9A880-4683-F7D2-59B9-EE6D88265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D3FDA-A875-1B0F-1B9B-5E7211EA9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5B900-BEAF-12C5-5046-1CB40B556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00D64-DE53-4A02-8C68-ABEDA0D4226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DD8F1-C6F0-C671-1FD9-3F99BAD87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F1D7B-A8F1-79BE-185C-E5A5F98AE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54DCB-C3F6-430B-AD65-3232CE555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8646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A1A79-D242-171E-759A-DB70B885B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EABA9-E1C4-CCC7-5471-7EB185CB5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B37420-3F4E-F704-026B-581A59AFA3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885C0-0404-F4B9-3B99-36BD8657F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00D64-DE53-4A02-8C68-ABEDA0D4226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E045E-7D91-6D98-7A8E-9227D6FD7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9A63E0-2BE6-6E17-CEC9-76B3A8E4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54DCB-C3F6-430B-AD65-3232CE555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5559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65FDF-8BF4-6058-3018-8FD91BF8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A683F-4842-BE25-31F5-1C73D7759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A2A5CE-8816-B7EA-DA14-0684BA6FB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BE95C3-593D-3557-F20D-CA9D85C32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7EDA39-E2B6-CDE8-0AF0-7696BF0528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720405-6EEC-768F-9B67-B19372717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00D64-DE53-4A02-8C68-ABEDA0D4226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6537D2-011D-FFD9-0A61-EF1B78699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3E43A6-7875-E151-9C9A-9B3D05220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54DCB-C3F6-430B-AD65-3232CE555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348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051E3-CE70-7D7C-3BA6-70C07CFB2E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42A52E-D862-FEFE-911E-9CD305171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00D64-DE53-4A02-8C68-ABEDA0D4226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95644-3464-491A-3192-6094C0716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F3BCCE-40D9-27E0-DFAF-CE39D529C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54DCB-C3F6-430B-AD65-3232CE555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0112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E5CC3C-6F09-FAF7-091E-88F68BC3B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00D64-DE53-4A02-8C68-ABEDA0D4226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2A3219-99DD-C93B-281E-CED8F57B6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3D4AD-9B74-E1D1-FD19-5E273F055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54DCB-C3F6-430B-AD65-3232CE555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983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99EA8-0531-5769-5DDE-0369A52D9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1FC7E-22AA-E7F1-C969-51877CA04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94C27-04D8-FD7B-5979-0965B6B6B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0FFEA-02F7-5BCE-7F2B-E470719F8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00D64-DE53-4A02-8C68-ABEDA0D4226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F9C7B1-790E-9E3F-B22B-571A4CABCD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A221E6-4AC5-1569-42AE-D98903390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54DCB-C3F6-430B-AD65-3232CE555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67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8C4C-BE5F-B2CC-B3B2-B9C36EB52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CBDF89-5796-65A4-5CB2-ED3675CF79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35F49-0199-BCC8-B568-61ABBBCD4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C8576-851F-0B62-95F3-0DE1E5FB7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00D64-DE53-4A02-8C68-ABEDA0D4226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BE88B1-DC6A-5DBB-CC99-5C9D631FD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128CEB-A98C-4BCD-1087-7100913CB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54DCB-C3F6-430B-AD65-3232CE555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67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79478-2864-47CD-2EE0-91A98064C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B21F7-0091-B247-7064-6E157F319C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571CF-3082-7E8B-95F9-078E17EDE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00D64-DE53-4A02-8C68-ABEDA0D4226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6641FA-FC7C-67B5-A8A7-FE6C09141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BB3CD-C7C0-7EB5-BB4B-92E1C176E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54DCB-C3F6-430B-AD65-3232CE555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255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E42D66-890A-68CD-FA7C-1577538B77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678F84-013C-6373-5323-FBEECF00E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E5BE8-B44A-6C01-58D1-FE7F6FAB8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00D64-DE53-4A02-8C68-ABEDA0D4226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880C0-956A-0837-6234-DB4162228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C7F44-0462-8465-56D1-154619A39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854DCB-C3F6-430B-AD65-3232CE555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7611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2470E7-030C-89D6-3920-0CD6765B0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D87CB8-1E62-FD14-344E-22A11298E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DE5B2-45FA-60AA-C189-5DA3A78136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400D64-DE53-4A02-8C68-ABEDA0D4226B}" type="datetimeFigureOut">
              <a:rPr lang="en-IN" smtClean="0"/>
              <a:t>01-04-2026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F4758-84CC-254F-339A-B3ECE71DC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60B6B-208F-633E-3A59-B250580FC6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854DCB-C3F6-430B-AD65-3232CE555D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617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3" Type="http://schemas.openxmlformats.org/officeDocument/2006/relationships/audio" Target="../media/audio1.wav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hyperlink" Target="http://127.0.0.1:7860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5FB0BB-F3C0-EDDA-0132-D60F6CBCE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7C8AD5E9-8846-9B5B-90A7-8915B7183E0C}"/>
              </a:ext>
            </a:extLst>
          </p:cNvPr>
          <p:cNvSpPr/>
          <p:nvPr/>
        </p:nvSpPr>
        <p:spPr>
          <a:xfrm>
            <a:off x="8442960" y="2357120"/>
            <a:ext cx="3749040" cy="356929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F4DD22-4DCF-6BED-675D-731668638C00}"/>
              </a:ext>
            </a:extLst>
          </p:cNvPr>
          <p:cNvSpPr txBox="1"/>
          <p:nvPr/>
        </p:nvSpPr>
        <p:spPr>
          <a:xfrm>
            <a:off x="345440" y="641439"/>
            <a:ext cx="115011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Deebak Balaji M — AI Systems Developer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3E4851C2-7703-6E4E-DAA7-BEBD5B7655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96875" l="9961" r="89844">
                        <a14:foregroundMark x1="26367" y1="89193" x2="27148" y2="96680"/>
                        <a14:foregroundMark x1="27148" y1="96680" x2="61328" y2="99544"/>
                        <a14:foregroundMark x1="61328" y1="99544" x2="67888" y2="94898"/>
                        <a14:foregroundMark x1="70829" y1="90972" x2="70898" y2="89909"/>
                        <a14:foregroundMark x1="70769" y1="91895" x2="70826" y2="91020"/>
                        <a14:foregroundMark x1="68194" y1="95382" x2="67969" y2="95964"/>
                        <a14:foregroundMark x1="70367" y1="89779" x2="69308" y2="92512"/>
                        <a14:foregroundMark x1="70898" y1="88411" x2="70367" y2="89779"/>
                        <a14:foregroundMark x1="67969" y1="95964" x2="54590" y2="99805"/>
                        <a14:foregroundMark x1="54590" y1="99805" x2="36621" y2="99805"/>
                        <a14:foregroundMark x1="36621" y1="99805" x2="26953" y2="96875"/>
                        <a14:foregroundMark x1="26953" y1="96875" x2="36035" y2="91211"/>
                        <a14:foregroundMark x1="36035" y1="91211" x2="69043" y2="90169"/>
                        <a14:backgroundMark x1="69824" y1="94271" x2="69824" y2="91927"/>
                        <a14:backgroundMark x1="69824" y1="91927" x2="70898" y2="89779"/>
                        <a14:backgroundMark x1="70898" y1="89779" x2="70898" y2="89779"/>
                        <a14:backgroundMark x1="69238" y1="93880" x2="70898" y2="90885"/>
                        <a14:backgroundMark x1="69629" y1="95378" x2="70313" y2="93034"/>
                        <a14:backgroundMark x1="69043" y1="93164" x2="70898" y2="96094"/>
                        <a14:backgroundMark x1="70898" y1="92773" x2="76270" y2="92122"/>
                        <a14:backgroundMark x1="72168" y1="92904" x2="69238" y2="941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3670" y="177281"/>
            <a:ext cx="4572000" cy="6858000"/>
          </a:xfrm>
          <a:prstGeom prst="rect">
            <a:avLst/>
          </a:prstGeom>
          <a:effectLst/>
        </p:spPr>
      </p:pic>
      <p:sp>
        <p:nvSpPr>
          <p:cNvPr id="42" name="Rectangle 3">
            <a:extLst>
              <a:ext uri="{FF2B5EF4-FFF2-40B4-BE49-F238E27FC236}">
                <a16:creationId xmlns:a16="http://schemas.microsoft.com/office/drawing/2014/main" id="{ED8E0930-38F0-1433-2DAE-DDE5F10832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961" y="3108465"/>
            <a:ext cx="6891438" cy="2817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BE CSE (3rd Year) — Kumaraguru College of Technology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</a:rPr>
              <a:t>deebakbalaji07@gmail.com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</a:rPr>
              <a:t>LinkedIn: www .linkedin.com/in/</a:t>
            </a:r>
            <a:r>
              <a:rPr lang="en-US" sz="2000" b="1" dirty="0" err="1">
                <a:solidFill>
                  <a:schemeClr val="bg1"/>
                </a:solidFill>
              </a:rPr>
              <a:t>deebak-balaji</a:t>
            </a:r>
            <a:r>
              <a:rPr lang="en-US" sz="2000" b="1" dirty="0">
                <a:solidFill>
                  <a:schemeClr val="bg1"/>
                </a:solidFill>
              </a:rPr>
              <a:t>/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sz="2000" b="1" dirty="0">
                <a:solidFill>
                  <a:schemeClr val="bg1"/>
                </a:solidFill>
              </a:rPr>
              <a:t>GitHub: github.com/MD-dev-007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2000" b="1" dirty="0">
                <a:solidFill>
                  <a:schemeClr val="bg1"/>
                </a:solidFill>
              </a:rPr>
              <a:t>Portfolio : </a:t>
            </a:r>
            <a:r>
              <a:rPr lang="en-US" sz="2000" b="1" dirty="0">
                <a:solidFill>
                  <a:schemeClr val="bg1"/>
                </a:solidFill>
              </a:rPr>
              <a:t>portfolio-</a:t>
            </a:r>
            <a:r>
              <a:rPr lang="en-US" sz="2000" b="1" dirty="0" err="1">
                <a:solidFill>
                  <a:schemeClr val="bg1"/>
                </a:solidFill>
              </a:rPr>
              <a:t>deebak.vercel.app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95401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25B06-7F59-7D8C-A590-E62B14FE5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56FDC70-0D28-780F-E8E9-567E3569889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220" y="139958"/>
            <a:ext cx="11865562" cy="6581193"/>
            <a:chOff x="163220" y="139958"/>
            <a:chExt cx="11865562" cy="6581193"/>
          </a:xfrm>
        </p:grpSpPr>
        <p:sp>
          <p:nvSpPr>
            <p:cNvPr id="2" name="Half Frame 1">
              <a:extLst>
                <a:ext uri="{FF2B5EF4-FFF2-40B4-BE49-F238E27FC236}">
                  <a16:creationId xmlns:a16="http://schemas.microsoft.com/office/drawing/2014/main" id="{112DD5FB-2B90-285E-90C5-1738612BD47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3220" y="139958"/>
              <a:ext cx="4893972" cy="5010540"/>
            </a:xfrm>
            <a:prstGeom prst="halfFrame">
              <a:avLst>
                <a:gd name="adj1" fmla="val 3875"/>
                <a:gd name="adj2" fmla="val 329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3" name="Half Frame 2">
              <a:extLst>
                <a:ext uri="{FF2B5EF4-FFF2-40B4-BE49-F238E27FC236}">
                  <a16:creationId xmlns:a16="http://schemas.microsoft.com/office/drawing/2014/main" id="{C82D1374-1FC1-DD17-8AD0-3DC59B299E1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7134810" y="1710611"/>
              <a:ext cx="4893972" cy="5010540"/>
            </a:xfrm>
            <a:prstGeom prst="halfFrame">
              <a:avLst>
                <a:gd name="adj1" fmla="val 3875"/>
                <a:gd name="adj2" fmla="val 329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8B08B50-C43E-2AB2-6EA3-45FC342B20AE}"/>
              </a:ext>
            </a:extLst>
          </p:cNvPr>
          <p:cNvSpPr/>
          <p:nvPr/>
        </p:nvSpPr>
        <p:spPr>
          <a:xfrm>
            <a:off x="437211" y="1111601"/>
            <a:ext cx="5598160" cy="50105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solidFill>
                  <a:srgbClr val="FF0000"/>
                </a:solidFill>
              </a:rPr>
              <a:t>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FF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8907D6-3FCE-264D-F94C-95B823B48389}"/>
              </a:ext>
            </a:extLst>
          </p:cNvPr>
          <p:cNvSpPr/>
          <p:nvPr/>
        </p:nvSpPr>
        <p:spPr>
          <a:xfrm>
            <a:off x="630250" y="1320957"/>
            <a:ext cx="5242559" cy="6496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/>
              <a:t>Problem Statement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EFD42E4-42A3-D34D-37D3-8382373CE5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787" y="2298912"/>
            <a:ext cx="5023335" cy="33488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B4247F8-6930-9B0D-34DE-142FEF37F518}"/>
              </a:ext>
            </a:extLst>
          </p:cNvPr>
          <p:cNvSpPr/>
          <p:nvPr/>
        </p:nvSpPr>
        <p:spPr>
          <a:xfrm>
            <a:off x="6228410" y="1111601"/>
            <a:ext cx="5598160" cy="50105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Wingdings" panose="05000000000000000000" pitchFamily="2" charset="2"/>
              <a:buChar char="§"/>
            </a:pPr>
            <a:endParaRPr lang="en-US" sz="20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</a:rPr>
              <a:t>AI assistants are </a:t>
            </a:r>
            <a:r>
              <a:rPr lang="en-US" altLang="en-US" sz="2000" b="1" dirty="0">
                <a:solidFill>
                  <a:srgbClr val="FF0000"/>
                </a:solidFill>
              </a:rPr>
              <a:t>passive (chat only)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</a:rPr>
              <a:t>Cannot </a:t>
            </a:r>
            <a:r>
              <a:rPr lang="en-US" altLang="en-US" sz="2000" b="1" dirty="0">
                <a:solidFill>
                  <a:srgbClr val="FF0000"/>
                </a:solidFill>
              </a:rPr>
              <a:t>perform real-world tasks reliably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</a:rPr>
              <a:t>No </a:t>
            </a:r>
            <a:r>
              <a:rPr lang="en-US" altLang="en-US" sz="2000" b="1" dirty="0">
                <a:solidFill>
                  <a:srgbClr val="FF0000"/>
                </a:solidFill>
              </a:rPr>
              <a:t>control, validation, or safety layer</a:t>
            </a:r>
            <a:r>
              <a:rPr lang="en-US" altLang="en-US" sz="2000" dirty="0">
                <a:solidFill>
                  <a:schemeClr val="tx1"/>
                </a:solidFill>
              </a:rPr>
              <a:t> </a:t>
            </a:r>
          </a:p>
          <a:p>
            <a:pPr marL="800100" lvl="1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solidFill>
                  <a:schemeClr val="tx1"/>
                </a:solidFill>
              </a:rPr>
              <a:t>Poor </a:t>
            </a:r>
            <a:r>
              <a:rPr lang="en-US" altLang="en-US" sz="2000" b="1" dirty="0">
                <a:solidFill>
                  <a:srgbClr val="FF0000"/>
                </a:solidFill>
              </a:rPr>
              <a:t>multi-step reasoning &amp; tool chaining</a:t>
            </a:r>
            <a:r>
              <a:rPr lang="en-US" altLang="en-US" sz="2000" dirty="0">
                <a:solidFill>
                  <a:srgbClr val="FF0000"/>
                </a:solidFill>
              </a:rPr>
              <a:t> 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027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C58B-B687-9F55-EEAC-716E876559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8457" y="2150054"/>
            <a:ext cx="10608906" cy="1550534"/>
          </a:xfrm>
        </p:spPr>
        <p:txBody>
          <a:bodyPr>
            <a:normAutofit/>
          </a:bodyPr>
          <a:lstStyle/>
          <a:p>
            <a:r>
              <a:rPr lang="en-IN" sz="8800" dirty="0">
                <a:solidFill>
                  <a:schemeClr val="bg1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Mother AI </a:t>
            </a:r>
          </a:p>
        </p:txBody>
      </p:sp>
      <p:pic>
        <p:nvPicPr>
          <p:cNvPr id="7" name="Graphic 6" descr="Fingerprint with solid fill">
            <a:extLst>
              <a:ext uri="{FF2B5EF4-FFF2-40B4-BE49-F238E27FC236}">
                <a16:creationId xmlns:a16="http://schemas.microsoft.com/office/drawing/2014/main" id="{BA0DFDBB-4DC2-7FA2-F963-A8AE0245133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520439" y="5520740"/>
            <a:ext cx="914400" cy="914400"/>
          </a:xfrm>
          <a:prstGeom prst="rect">
            <a:avLst/>
          </a:prstGeom>
        </p:spPr>
      </p:pic>
      <p:pic>
        <p:nvPicPr>
          <p:cNvPr id="9" name="Graphic 8" descr="Address Book with solid fill">
            <a:extLst>
              <a:ext uri="{FF2B5EF4-FFF2-40B4-BE49-F238E27FC236}">
                <a16:creationId xmlns:a16="http://schemas.microsoft.com/office/drawing/2014/main" id="{90DCF188-A49D-C6E6-EE38-78962E75C8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624045" y="5520740"/>
            <a:ext cx="914400" cy="914400"/>
          </a:xfrm>
          <a:prstGeom prst="rect">
            <a:avLst/>
          </a:prstGeom>
        </p:spPr>
      </p:pic>
      <p:pic>
        <p:nvPicPr>
          <p:cNvPr id="11" name="Graphic 10" descr="Chat bubble with solid fill">
            <a:extLst>
              <a:ext uri="{FF2B5EF4-FFF2-40B4-BE49-F238E27FC236}">
                <a16:creationId xmlns:a16="http://schemas.microsoft.com/office/drawing/2014/main" id="{8E5D0918-A7C8-7C46-A228-01BB5D31A9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257" y="5520740"/>
            <a:ext cx="914400" cy="914400"/>
          </a:xfrm>
          <a:prstGeom prst="rect">
            <a:avLst/>
          </a:prstGeom>
        </p:spPr>
      </p:pic>
      <p:pic>
        <p:nvPicPr>
          <p:cNvPr id="13" name="Graphic 12" descr="Artificial Intelligence outline">
            <a:extLst>
              <a:ext uri="{FF2B5EF4-FFF2-40B4-BE49-F238E27FC236}">
                <a16:creationId xmlns:a16="http://schemas.microsoft.com/office/drawing/2014/main" id="{6E5B4B1D-8646-638A-5415-F2E187B9B1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2226053" y="511348"/>
            <a:ext cx="914400" cy="914400"/>
          </a:xfrm>
          <a:prstGeom prst="rect">
            <a:avLst/>
          </a:prstGeom>
        </p:spPr>
      </p:pic>
      <p:pic>
        <p:nvPicPr>
          <p:cNvPr id="15" name="Graphic 14" descr="Database with solid fill">
            <a:extLst>
              <a:ext uri="{FF2B5EF4-FFF2-40B4-BE49-F238E27FC236}">
                <a16:creationId xmlns:a16="http://schemas.microsoft.com/office/drawing/2014/main" id="{37159C2D-8A91-3DB5-9079-10E38C9BFB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71101" y="531012"/>
            <a:ext cx="914400" cy="914400"/>
          </a:xfrm>
          <a:prstGeom prst="rect">
            <a:avLst/>
          </a:prstGeom>
        </p:spPr>
      </p:pic>
      <p:pic>
        <p:nvPicPr>
          <p:cNvPr id="17" name="Graphic 16" descr="Direction with solid fill">
            <a:extLst>
              <a:ext uri="{FF2B5EF4-FFF2-40B4-BE49-F238E27FC236}">
                <a16:creationId xmlns:a16="http://schemas.microsoft.com/office/drawing/2014/main" id="{92F3512A-F5CC-FC8C-C727-BE0A0F33E9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62315" y="531012"/>
            <a:ext cx="914400" cy="914400"/>
          </a:xfrm>
          <a:prstGeom prst="rect">
            <a:avLst/>
          </a:prstGeom>
        </p:spPr>
      </p:pic>
      <p:pic>
        <p:nvPicPr>
          <p:cNvPr id="19" name="Graphic 18" descr="Download from cloud outline">
            <a:extLst>
              <a:ext uri="{FF2B5EF4-FFF2-40B4-BE49-F238E27FC236}">
                <a16:creationId xmlns:a16="http://schemas.microsoft.com/office/drawing/2014/main" id="{D6886E01-1E51-2533-27F0-3FB1896A7D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16833" y="5520740"/>
            <a:ext cx="914400" cy="914400"/>
          </a:xfrm>
          <a:prstGeom prst="rect">
            <a:avLst/>
          </a:prstGeom>
        </p:spPr>
      </p:pic>
      <p:pic>
        <p:nvPicPr>
          <p:cNvPr id="21" name="Graphic 20" descr="Email with solid fill">
            <a:extLst>
              <a:ext uri="{FF2B5EF4-FFF2-40B4-BE49-F238E27FC236}">
                <a16:creationId xmlns:a16="http://schemas.microsoft.com/office/drawing/2014/main" id="{0202F937-0C82-905B-D740-E119D88E79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7434839" y="531012"/>
            <a:ext cx="914400" cy="914400"/>
          </a:xfrm>
          <a:prstGeom prst="rect">
            <a:avLst/>
          </a:prstGeom>
        </p:spPr>
      </p:pic>
      <p:pic>
        <p:nvPicPr>
          <p:cNvPr id="23" name="Graphic 22" descr="Document with solid fill">
            <a:extLst>
              <a:ext uri="{FF2B5EF4-FFF2-40B4-BE49-F238E27FC236}">
                <a16:creationId xmlns:a16="http://schemas.microsoft.com/office/drawing/2014/main" id="{D17160B8-7BED-8213-BB90-165A7A1CB5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2727651" y="5520740"/>
            <a:ext cx="914400" cy="914400"/>
          </a:xfrm>
          <a:prstGeom prst="rect">
            <a:avLst/>
          </a:prstGeom>
        </p:spPr>
      </p:pic>
      <p:pic>
        <p:nvPicPr>
          <p:cNvPr id="25" name="Graphic 24" descr="Folder Search with solid fill">
            <a:extLst>
              <a:ext uri="{FF2B5EF4-FFF2-40B4-BE49-F238E27FC236}">
                <a16:creationId xmlns:a16="http://schemas.microsoft.com/office/drawing/2014/main" id="{E95D93E1-5264-3356-C032-96238BBB61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5698577" y="531012"/>
            <a:ext cx="914400" cy="914400"/>
          </a:xfrm>
          <a:prstGeom prst="rect">
            <a:avLst/>
          </a:prstGeom>
        </p:spPr>
      </p:pic>
      <p:pic>
        <p:nvPicPr>
          <p:cNvPr id="27" name="Graphic 26" descr="Internet Of Things with solid fill">
            <a:extLst>
              <a:ext uri="{FF2B5EF4-FFF2-40B4-BE49-F238E27FC236}">
                <a16:creationId xmlns:a16="http://schemas.microsoft.com/office/drawing/2014/main" id="{8C7BE259-3C53-F565-CD44-F4BCD0A362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89791" y="531012"/>
            <a:ext cx="914400" cy="914400"/>
          </a:xfrm>
          <a:prstGeom prst="rect">
            <a:avLst/>
          </a:prstGeom>
        </p:spPr>
      </p:pic>
      <p:pic>
        <p:nvPicPr>
          <p:cNvPr id="29" name="Graphic 28" descr="Hierarchy outline">
            <a:extLst>
              <a:ext uri="{FF2B5EF4-FFF2-40B4-BE49-F238E27FC236}">
                <a16:creationId xmlns:a16="http://schemas.microsoft.com/office/drawing/2014/main" id="{476D1C3D-68B7-2B91-43AB-6A010569D8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0313225" y="5520740"/>
            <a:ext cx="914400" cy="914400"/>
          </a:xfrm>
          <a:prstGeom prst="rect">
            <a:avLst/>
          </a:prstGeom>
        </p:spPr>
      </p:pic>
      <p:pic>
        <p:nvPicPr>
          <p:cNvPr id="31" name="Graphic 30" descr="Upload outline">
            <a:extLst>
              <a:ext uri="{FF2B5EF4-FFF2-40B4-BE49-F238E27FC236}">
                <a16:creationId xmlns:a16="http://schemas.microsoft.com/office/drawing/2014/main" id="{9D4266E7-EF01-F421-CDD1-86F7A40628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907361" y="531012"/>
            <a:ext cx="914400" cy="914400"/>
          </a:xfrm>
          <a:prstGeom prst="rect">
            <a:avLst/>
          </a:prstGeom>
        </p:spPr>
      </p:pic>
      <p:sp>
        <p:nvSpPr>
          <p:cNvPr id="35" name="Half Frame 34">
            <a:extLst>
              <a:ext uri="{FF2B5EF4-FFF2-40B4-BE49-F238E27FC236}">
                <a16:creationId xmlns:a16="http://schemas.microsoft.com/office/drawing/2014/main" id="{36758040-B154-3445-2CDA-6A433597008A}"/>
              </a:ext>
            </a:extLst>
          </p:cNvPr>
          <p:cNvSpPr/>
          <p:nvPr/>
        </p:nvSpPr>
        <p:spPr>
          <a:xfrm>
            <a:off x="489791" y="1698170"/>
            <a:ext cx="3680993" cy="3610947"/>
          </a:xfrm>
          <a:prstGeom prst="halfFrame">
            <a:avLst>
              <a:gd name="adj1" fmla="val 5425"/>
              <a:gd name="adj2" fmla="val 58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7" name="Half Frame 36">
            <a:extLst>
              <a:ext uri="{FF2B5EF4-FFF2-40B4-BE49-F238E27FC236}">
                <a16:creationId xmlns:a16="http://schemas.microsoft.com/office/drawing/2014/main" id="{92F6A04A-AE86-1FA1-D7B6-D77B94326B88}"/>
              </a:ext>
            </a:extLst>
          </p:cNvPr>
          <p:cNvSpPr/>
          <p:nvPr/>
        </p:nvSpPr>
        <p:spPr>
          <a:xfrm rot="10800000">
            <a:off x="7892039" y="1801641"/>
            <a:ext cx="3680993" cy="3610947"/>
          </a:xfrm>
          <a:prstGeom prst="halfFrame">
            <a:avLst>
              <a:gd name="adj1" fmla="val 5425"/>
              <a:gd name="adj2" fmla="val 5882"/>
            </a:avLst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A56EFA7-1B24-E5F6-F889-0161CAE28E88}"/>
              </a:ext>
            </a:extLst>
          </p:cNvPr>
          <p:cNvSpPr/>
          <p:nvPr/>
        </p:nvSpPr>
        <p:spPr>
          <a:xfrm>
            <a:off x="8238931" y="4701873"/>
            <a:ext cx="2988694" cy="3775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2000" dirty="0">
                <a:solidFill>
                  <a:prstClr val="black"/>
                </a:solidFill>
                <a:latin typeface="Aptos" panose="02110004020202020204"/>
              </a:rPr>
              <a:t>- By ‘Deebak </a:t>
            </a:r>
            <a:r>
              <a:rPr lang="en-IN" sz="2000" dirty="0" err="1">
                <a:solidFill>
                  <a:prstClr val="black"/>
                </a:solidFill>
                <a:latin typeface="Aptos" panose="02110004020202020204"/>
              </a:rPr>
              <a:t>balaji</a:t>
            </a:r>
            <a:r>
              <a:rPr lang="en-IN" sz="2000" dirty="0">
                <a:solidFill>
                  <a:prstClr val="black"/>
                </a:solidFill>
                <a:latin typeface="Aptos" panose="02110004020202020204"/>
              </a:rPr>
              <a:t>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79355B-8006-351A-2D72-B43A68FA24CE}"/>
              </a:ext>
            </a:extLst>
          </p:cNvPr>
          <p:cNvSpPr txBox="1"/>
          <p:nvPr/>
        </p:nvSpPr>
        <p:spPr>
          <a:xfrm>
            <a:off x="2266324" y="3679670"/>
            <a:ext cx="7659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“ AI that doesn’t just respond — it executes real-world tasks autonomously ”</a:t>
            </a:r>
          </a:p>
        </p:txBody>
      </p:sp>
    </p:spTree>
    <p:extLst>
      <p:ext uri="{BB962C8B-B14F-4D97-AF65-F5344CB8AC3E}">
        <p14:creationId xmlns:p14="http://schemas.microsoft.com/office/powerpoint/2010/main" val="2918730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bomb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0F965-F38C-47D8-447B-A3E2037FB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6F7E0D28-BED5-0A95-D95E-58C56053F775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220" y="139958"/>
            <a:ext cx="11865562" cy="6581193"/>
            <a:chOff x="163220" y="139958"/>
            <a:chExt cx="11865562" cy="6581193"/>
          </a:xfrm>
        </p:grpSpPr>
        <p:sp>
          <p:nvSpPr>
            <p:cNvPr id="2" name="Half Frame 1">
              <a:extLst>
                <a:ext uri="{FF2B5EF4-FFF2-40B4-BE49-F238E27FC236}">
                  <a16:creationId xmlns:a16="http://schemas.microsoft.com/office/drawing/2014/main" id="{77232349-EB7E-E1EF-A8D2-4EFE76A6A9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3220" y="139958"/>
              <a:ext cx="4893972" cy="5010540"/>
            </a:xfrm>
            <a:prstGeom prst="halfFrame">
              <a:avLst>
                <a:gd name="adj1" fmla="val 3875"/>
                <a:gd name="adj2" fmla="val 329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3" name="Half Frame 2">
              <a:extLst>
                <a:ext uri="{FF2B5EF4-FFF2-40B4-BE49-F238E27FC236}">
                  <a16:creationId xmlns:a16="http://schemas.microsoft.com/office/drawing/2014/main" id="{2BF35934-922E-7FC2-08D6-F08230E055A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7134810" y="1710611"/>
              <a:ext cx="4893972" cy="5010540"/>
            </a:xfrm>
            <a:prstGeom prst="halfFrame">
              <a:avLst>
                <a:gd name="adj1" fmla="val 3875"/>
                <a:gd name="adj2" fmla="val 329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6F1854FB-7EBF-7B75-8EDF-87347332410A}"/>
              </a:ext>
            </a:extLst>
          </p:cNvPr>
          <p:cNvSpPr/>
          <p:nvPr/>
        </p:nvSpPr>
        <p:spPr>
          <a:xfrm>
            <a:off x="520248" y="1223404"/>
            <a:ext cx="5598160" cy="50105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2CB33B9-5CF3-FD63-C1EA-3D228E333FE2}"/>
              </a:ext>
            </a:extLst>
          </p:cNvPr>
          <p:cNvSpPr/>
          <p:nvPr/>
        </p:nvSpPr>
        <p:spPr>
          <a:xfrm>
            <a:off x="6388389" y="1619567"/>
            <a:ext cx="5242559" cy="64961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3200" dirty="0"/>
              <a:t>Solution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1C4895D-4A77-24BE-8A7E-6DCC358FF65A}"/>
              </a:ext>
            </a:extLst>
          </p:cNvPr>
          <p:cNvSpPr txBox="1">
            <a:spLocks/>
          </p:cNvSpPr>
          <p:nvPr/>
        </p:nvSpPr>
        <p:spPr>
          <a:xfrm>
            <a:off x="952844" y="2178140"/>
            <a:ext cx="10608906" cy="155053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58BED7-1C74-C1D8-777E-9059B0CEF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3969" y="2437949"/>
            <a:ext cx="5257798" cy="350519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14296BD-0509-5F55-E0FB-08CAD783E6A2}"/>
              </a:ext>
            </a:extLst>
          </p:cNvPr>
          <p:cNvSpPr txBox="1"/>
          <p:nvPr/>
        </p:nvSpPr>
        <p:spPr>
          <a:xfrm>
            <a:off x="1631187" y="3020620"/>
            <a:ext cx="3703043" cy="2129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Arial" panose="020B0604020202020204" pitchFamily="34" charset="0"/>
              </a:rPr>
              <a:t>Autonomous task execution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Arial" panose="020B0604020202020204" pitchFamily="34" charset="0"/>
              </a:rPr>
              <a:t>Tool chaining system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Arial" panose="020B0604020202020204" pitchFamily="34" charset="0"/>
              </a:rPr>
              <a:t>Validation + approval layer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dirty="0">
                <a:latin typeface="Arial" panose="020B0604020202020204" pitchFamily="34" charset="0"/>
              </a:rPr>
              <a:t>Intelligent planning 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212E6A9-8533-6B6E-7242-CC6AD480BB2F}"/>
              </a:ext>
            </a:extLst>
          </p:cNvPr>
          <p:cNvSpPr/>
          <p:nvPr/>
        </p:nvSpPr>
        <p:spPr>
          <a:xfrm>
            <a:off x="6210589" y="1223404"/>
            <a:ext cx="5598160" cy="50105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7710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ABA49-8DBF-ABE6-EAB5-29B5B55BA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5ECC27E-C887-1EB9-2E05-AE0FE4D1C4E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220" y="139958"/>
            <a:ext cx="11865562" cy="6581193"/>
            <a:chOff x="163220" y="139958"/>
            <a:chExt cx="11865562" cy="6581193"/>
          </a:xfrm>
        </p:grpSpPr>
        <p:sp>
          <p:nvSpPr>
            <p:cNvPr id="2" name="Half Frame 1">
              <a:extLst>
                <a:ext uri="{FF2B5EF4-FFF2-40B4-BE49-F238E27FC236}">
                  <a16:creationId xmlns:a16="http://schemas.microsoft.com/office/drawing/2014/main" id="{BACA45CD-33FE-2513-5E73-5826D4DF86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3220" y="139958"/>
              <a:ext cx="4893972" cy="5010540"/>
            </a:xfrm>
            <a:prstGeom prst="halfFrame">
              <a:avLst>
                <a:gd name="adj1" fmla="val 3875"/>
                <a:gd name="adj2" fmla="val 329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3" name="Half Frame 2">
              <a:extLst>
                <a:ext uri="{FF2B5EF4-FFF2-40B4-BE49-F238E27FC236}">
                  <a16:creationId xmlns:a16="http://schemas.microsoft.com/office/drawing/2014/main" id="{79730692-3BC1-E58C-790E-BA4104AA89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7134810" y="1710611"/>
              <a:ext cx="4893972" cy="5010540"/>
            </a:xfrm>
            <a:prstGeom prst="halfFrame">
              <a:avLst>
                <a:gd name="adj1" fmla="val 3875"/>
                <a:gd name="adj2" fmla="val 329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78" name="Rectangle 77">
            <a:extLst>
              <a:ext uri="{FF2B5EF4-FFF2-40B4-BE49-F238E27FC236}">
                <a16:creationId xmlns:a16="http://schemas.microsoft.com/office/drawing/2014/main" id="{53B6BF4B-C56F-0E1E-618E-32B6744E180F}"/>
              </a:ext>
            </a:extLst>
          </p:cNvPr>
          <p:cNvSpPr/>
          <p:nvPr/>
        </p:nvSpPr>
        <p:spPr>
          <a:xfrm>
            <a:off x="407815" y="397022"/>
            <a:ext cx="5178650" cy="60027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WORKING FLOW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42C0591-449D-E57B-408A-28408F12E444}"/>
              </a:ext>
            </a:extLst>
          </p:cNvPr>
          <p:cNvSpPr txBox="1"/>
          <p:nvPr/>
        </p:nvSpPr>
        <p:spPr>
          <a:xfrm>
            <a:off x="7711634" y="2228671"/>
            <a:ext cx="3735728" cy="15645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Addition Internal work: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Loop-based reasoning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Variable resolver for chaining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vs reasoning mode 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7D492022-F379-0AE3-9425-4D49BBAEA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491" y="997301"/>
            <a:ext cx="6119752" cy="5523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210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5BCD1-1CAC-316E-7C74-ECC402473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7ACE30FA-3991-853A-2CD8-87077551094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220" y="139958"/>
            <a:ext cx="11865562" cy="6581193"/>
            <a:chOff x="163220" y="139958"/>
            <a:chExt cx="11865562" cy="6581193"/>
          </a:xfrm>
        </p:grpSpPr>
        <p:sp>
          <p:nvSpPr>
            <p:cNvPr id="2" name="Half Frame 1">
              <a:extLst>
                <a:ext uri="{FF2B5EF4-FFF2-40B4-BE49-F238E27FC236}">
                  <a16:creationId xmlns:a16="http://schemas.microsoft.com/office/drawing/2014/main" id="{1EEC526B-042F-8917-8E36-FAC1004012C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3220" y="139958"/>
              <a:ext cx="4893972" cy="5010540"/>
            </a:xfrm>
            <a:prstGeom prst="halfFrame">
              <a:avLst>
                <a:gd name="adj1" fmla="val 3875"/>
                <a:gd name="adj2" fmla="val 329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3" name="Half Frame 2">
              <a:extLst>
                <a:ext uri="{FF2B5EF4-FFF2-40B4-BE49-F238E27FC236}">
                  <a16:creationId xmlns:a16="http://schemas.microsoft.com/office/drawing/2014/main" id="{5CA25CFB-CFBB-D2F6-892A-D3B2C57EFBC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7134810" y="1710611"/>
              <a:ext cx="4893972" cy="5010540"/>
            </a:xfrm>
            <a:prstGeom prst="halfFrame">
              <a:avLst>
                <a:gd name="adj1" fmla="val 3875"/>
                <a:gd name="adj2" fmla="val 329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78" name="Rectangle 77">
            <a:extLst>
              <a:ext uri="{FF2B5EF4-FFF2-40B4-BE49-F238E27FC236}">
                <a16:creationId xmlns:a16="http://schemas.microsoft.com/office/drawing/2014/main" id="{95B8274F-152A-CA38-B6FF-F7FE0AB92935}"/>
              </a:ext>
            </a:extLst>
          </p:cNvPr>
          <p:cNvSpPr/>
          <p:nvPr/>
        </p:nvSpPr>
        <p:spPr>
          <a:xfrm>
            <a:off x="407815" y="397022"/>
            <a:ext cx="5178650" cy="60027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DEMO</a:t>
            </a:r>
          </a:p>
        </p:txBody>
      </p:sp>
      <p:pic>
        <p:nvPicPr>
          <p:cNvPr id="5" name="Picture 5" descr="610+ Agentic Ai Stock Illustrations, Royalty-Free Vector Graphics &amp; Clip  Art - iStock">
            <a:extLst>
              <a:ext uri="{FF2B5EF4-FFF2-40B4-BE49-F238E27FC236}">
                <a16:creationId xmlns:a16="http://schemas.microsoft.com/office/drawing/2014/main" id="{641726BB-7196-C61E-3C2A-218AE7C3F3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0516" y="2809003"/>
            <a:ext cx="2701288" cy="1955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6AE006-3A4B-6D98-A37C-B72B46D27F61}"/>
              </a:ext>
            </a:extLst>
          </p:cNvPr>
          <p:cNvSpPr txBox="1"/>
          <p:nvPr/>
        </p:nvSpPr>
        <p:spPr>
          <a:xfrm>
            <a:off x="3506675" y="4512421"/>
            <a:ext cx="25893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Mother AI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8D3C730-7767-1ACC-3489-B750FD8F6D42}"/>
              </a:ext>
            </a:extLst>
          </p:cNvPr>
          <p:cNvGrpSpPr/>
          <p:nvPr/>
        </p:nvGrpSpPr>
        <p:grpSpPr>
          <a:xfrm>
            <a:off x="5738327" y="2967135"/>
            <a:ext cx="3331028" cy="2537926"/>
            <a:chOff x="5738327" y="2967135"/>
            <a:chExt cx="3331028" cy="2537926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E25BB08C-4319-CEB7-A81E-E75E100E756C}"/>
                </a:ext>
              </a:extLst>
            </p:cNvPr>
            <p:cNvSpPr/>
            <p:nvPr/>
          </p:nvSpPr>
          <p:spPr>
            <a:xfrm>
              <a:off x="5738327" y="2967135"/>
              <a:ext cx="3331028" cy="2537926"/>
            </a:xfrm>
            <a:prstGeom prst="roundRect">
              <a:avLst/>
            </a:prstGeom>
            <a:noFill/>
            <a:ln w="952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Picture 8">
              <a:hlinkClick r:id="rId4"/>
              <a:extLst>
                <a:ext uri="{FF2B5EF4-FFF2-40B4-BE49-F238E27FC236}">
                  <a16:creationId xmlns:a16="http://schemas.microsoft.com/office/drawing/2014/main" id="{1DC09736-9C47-ACB7-17C5-247CA6361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863351" y="3200400"/>
              <a:ext cx="3111558" cy="1856792"/>
            </a:xfrm>
            <a:prstGeom prst="rect">
              <a:avLst/>
            </a:prstGeom>
          </p:spPr>
        </p:pic>
      </p:grp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A1BFAC5-0BAC-554B-8CF1-85D2A52D89F8}"/>
              </a:ext>
            </a:extLst>
          </p:cNvPr>
          <p:cNvCxnSpPr/>
          <p:nvPr/>
        </p:nvCxnSpPr>
        <p:spPr>
          <a:xfrm>
            <a:off x="4497356" y="3963957"/>
            <a:ext cx="1240971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18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ABA49-8DBF-ABE6-EAB5-29B5B55BA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5ECC27E-C887-1EB9-2E05-AE0FE4D1C4E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63220" y="139958"/>
            <a:ext cx="11865562" cy="6581193"/>
            <a:chOff x="163220" y="139958"/>
            <a:chExt cx="11865562" cy="6581193"/>
          </a:xfrm>
        </p:grpSpPr>
        <p:sp>
          <p:nvSpPr>
            <p:cNvPr id="2" name="Half Frame 1">
              <a:extLst>
                <a:ext uri="{FF2B5EF4-FFF2-40B4-BE49-F238E27FC236}">
                  <a16:creationId xmlns:a16="http://schemas.microsoft.com/office/drawing/2014/main" id="{BACA45CD-33FE-2513-5E73-5826D4DF86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3220" y="139958"/>
              <a:ext cx="4893972" cy="5010540"/>
            </a:xfrm>
            <a:prstGeom prst="halfFrame">
              <a:avLst>
                <a:gd name="adj1" fmla="val 3875"/>
                <a:gd name="adj2" fmla="val 329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tx1"/>
                </a:solidFill>
              </a:endParaRPr>
            </a:p>
          </p:txBody>
        </p:sp>
        <p:sp>
          <p:nvSpPr>
            <p:cNvPr id="3" name="Half Frame 2">
              <a:extLst>
                <a:ext uri="{FF2B5EF4-FFF2-40B4-BE49-F238E27FC236}">
                  <a16:creationId xmlns:a16="http://schemas.microsoft.com/office/drawing/2014/main" id="{79730692-3BC1-E58C-790E-BA4104AA89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10800000">
              <a:off x="7134810" y="1710611"/>
              <a:ext cx="4893972" cy="5010540"/>
            </a:xfrm>
            <a:prstGeom prst="halfFrame">
              <a:avLst>
                <a:gd name="adj1" fmla="val 3875"/>
                <a:gd name="adj2" fmla="val 3298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chemeClr val="tx1"/>
                </a:solidFill>
              </a:endParaRP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FF76A2C2-59CF-890D-C4A7-EE7D4811EF2B}"/>
              </a:ext>
            </a:extLst>
          </p:cNvPr>
          <p:cNvSpPr/>
          <p:nvPr/>
        </p:nvSpPr>
        <p:spPr>
          <a:xfrm>
            <a:off x="407815" y="397022"/>
            <a:ext cx="5178650" cy="60027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What I Achieved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C1B02B-0164-000F-EFD0-2C878D81A98F}"/>
              </a:ext>
            </a:extLst>
          </p:cNvPr>
          <p:cNvSpPr/>
          <p:nvPr/>
        </p:nvSpPr>
        <p:spPr>
          <a:xfrm>
            <a:off x="4549991" y="487400"/>
            <a:ext cx="410526" cy="4105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Checkmark with solid fill">
            <a:extLst>
              <a:ext uri="{FF2B5EF4-FFF2-40B4-BE49-F238E27FC236}">
                <a16:creationId xmlns:a16="http://schemas.microsoft.com/office/drawing/2014/main" id="{BD6345A0-9576-3D40-61A9-DCB76F2FA0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4302" y="473730"/>
            <a:ext cx="410526" cy="41052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4D578C3-3DC0-A80C-05AC-4CEEDCA5DD0D}"/>
              </a:ext>
            </a:extLst>
          </p:cNvPr>
          <p:cNvSpPr txBox="1"/>
          <p:nvPr/>
        </p:nvSpPr>
        <p:spPr>
          <a:xfrm>
            <a:off x="855684" y="1687111"/>
            <a:ext cx="3694307" cy="153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600" dirty="0">
                <a:cs typeface="Arial" panose="020B0604020202020204" pitchFamily="34" charset="0"/>
              </a:rPr>
              <a:t>End-to-end task execution system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600" dirty="0">
                <a:cs typeface="Arial" panose="020B0604020202020204" pitchFamily="34" charset="0"/>
              </a:rPr>
              <a:t>Real API integrations (Google)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600" dirty="0">
                <a:cs typeface="Arial" panose="020B0604020202020204" pitchFamily="34" charset="0"/>
              </a:rPr>
              <a:t>Autonomous multi-step agent 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</a:pPr>
            <a:r>
              <a:rPr lang="en-US" altLang="en-US" sz="1600" dirty="0">
                <a:cs typeface="Arial" panose="020B0604020202020204" pitchFamily="34" charset="0"/>
              </a:rPr>
              <a:t>Safe execution via validator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60D15F8-C4AB-0106-5801-A0866F93FCD8}"/>
              </a:ext>
            </a:extLst>
          </p:cNvPr>
          <p:cNvSpPr/>
          <p:nvPr/>
        </p:nvSpPr>
        <p:spPr>
          <a:xfrm>
            <a:off x="5917789" y="392524"/>
            <a:ext cx="5178650" cy="60027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fontAlgn="base">
              <a:spcBef>
                <a:spcPct val="0"/>
              </a:spcBef>
              <a:spcAft>
                <a:spcPct val="0"/>
              </a:spcAft>
            </a:pPr>
            <a:r>
              <a:rPr lang="en-US" sz="3200" b="1" dirty="0">
                <a:solidFill>
                  <a:schemeClr val="bg2"/>
                </a:solidFill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What’s Next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254D31-9318-DF38-25C5-37639BD9A232}"/>
              </a:ext>
            </a:extLst>
          </p:cNvPr>
          <p:cNvSpPr txBox="1"/>
          <p:nvPr/>
        </p:nvSpPr>
        <p:spPr>
          <a:xfrm>
            <a:off x="290807" y="3463079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“System is fully functional with real-world actions”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BE6574C-169F-1A2C-370C-D7ADE89A519C}"/>
              </a:ext>
            </a:extLst>
          </p:cNvPr>
          <p:cNvSpPr/>
          <p:nvPr/>
        </p:nvSpPr>
        <p:spPr>
          <a:xfrm>
            <a:off x="10354953" y="491898"/>
            <a:ext cx="410526" cy="41052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30C068-FC93-03B0-C0BE-D2F84BB29BCB}"/>
              </a:ext>
            </a:extLst>
          </p:cNvPr>
          <p:cNvSpPr txBox="1"/>
          <p:nvPr/>
        </p:nvSpPr>
        <p:spPr>
          <a:xfrm>
            <a:off x="6094446" y="1582726"/>
            <a:ext cx="4187889" cy="153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cs typeface="Arial" panose="020B0604020202020204" pitchFamily="34" charset="0"/>
              </a:rPr>
              <a:t>Memory system (context awareness)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cs typeface="Arial" panose="020B0604020202020204" pitchFamily="34" charset="0"/>
              </a:rPr>
              <a:t>Advanced email automation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cs typeface="Arial" panose="020B0604020202020204" pitchFamily="34" charset="0"/>
              </a:rPr>
              <a:t>Production UI (React) 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1600" dirty="0">
                <a:cs typeface="Arial" panose="020B0604020202020204" pitchFamily="34" charset="0"/>
              </a:rPr>
              <a:t>OS-level integration 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A3C7032-AF32-00DB-0E75-0CA88BBD339A}"/>
              </a:ext>
            </a:extLst>
          </p:cNvPr>
          <p:cNvCxnSpPr>
            <a:cxnSpLocks/>
          </p:cNvCxnSpPr>
          <p:nvPr/>
        </p:nvCxnSpPr>
        <p:spPr>
          <a:xfrm>
            <a:off x="5803641" y="392524"/>
            <a:ext cx="0" cy="4468725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5C702ADD-1303-9FC5-EB35-33EFAE002049}"/>
              </a:ext>
            </a:extLst>
          </p:cNvPr>
          <p:cNvSpPr txBox="1"/>
          <p:nvPr/>
        </p:nvSpPr>
        <p:spPr>
          <a:xfrm>
            <a:off x="6094446" y="3476426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i="1" dirty="0"/>
              <a:t>“Goal: Build a full AI Operating System”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35564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B82AD5-69BD-EDEF-A3FF-69668806C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0" y="477900"/>
            <a:ext cx="5204489" cy="316059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b="1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15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2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27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723484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194</Words>
  <Application>Microsoft Office PowerPoint</Application>
  <PresentationFormat>Widescreen</PresentationFormat>
  <Paragraphs>45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ADLaM Display</vt:lpstr>
      <vt:lpstr>Aptos</vt:lpstr>
      <vt:lpstr>Aptos Display</vt:lpstr>
      <vt:lpstr>Arial</vt:lpstr>
      <vt:lpstr>Times New Roman</vt:lpstr>
      <vt:lpstr>Wingdings</vt:lpstr>
      <vt:lpstr>1_Office Theme</vt:lpstr>
      <vt:lpstr>PowerPoint Presentation</vt:lpstr>
      <vt:lpstr>PowerPoint Presentation</vt:lpstr>
      <vt:lpstr>Mother AI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Navin raj</dc:creator>
  <cp:lastModifiedBy>Deebak Balaji M 23BCS302</cp:lastModifiedBy>
  <cp:revision>12</cp:revision>
  <dcterms:created xsi:type="dcterms:W3CDTF">2024-09-13T00:39:41Z</dcterms:created>
  <dcterms:modified xsi:type="dcterms:W3CDTF">2026-04-01T16:42:49Z</dcterms:modified>
</cp:coreProperties>
</file>